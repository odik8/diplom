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1" r:id="rId10"/>
    <p:sldId id="263" r:id="rId11"/>
    <p:sldId id="268" r:id="rId12"/>
    <p:sldId id="269" r:id="rId13"/>
    <p:sldId id="270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31"/>
    <p:restoredTop sz="94629"/>
  </p:normalViewPr>
  <p:slideViewPr>
    <p:cSldViewPr snapToGrid="0" snapToObjects="1">
      <p:cViewPr varScale="1">
        <p:scale>
          <a:sx n="96" d="100"/>
          <a:sy n="96" d="100"/>
        </p:scale>
        <p:origin x="168" y="3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37146-BE1E-B048-9F2A-24AB606B3563}" type="datetimeFigureOut">
              <a:rPr lang="ru-RU" smtClean="0"/>
              <a:t>25.06.2026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8C855-4E27-A14C-B17A-088022A396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55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8C855-4E27-A14C-B17A-088022A396C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5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78240" y="914400"/>
            <a:ext cx="4023360" cy="4023360"/>
          </a:xfrm>
          <a:prstGeom prst="ellipse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463040"/>
            <a:ext cx="2926080" cy="2926080"/>
          </a:xfrm>
          <a:prstGeom prst="ellipse">
            <a:avLst/>
          </a:prstGeom>
          <a:solidFill>
            <a:srgbClr val="F2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69A3A"/>
                </a:solidFill>
                <a:latin typeface="Segoe UI"/>
              </a:rPr>
              <a:t>ВЫПУСКНАЯ КВАЛИФИКАЦИОННАЯ РАБОТА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8638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Система онлайн-заказа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и доставки готовых блюд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7680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E2D9D0"/>
                </a:solidFill>
                <a:latin typeface="Segoe UI"/>
              </a:rPr>
              <a:t>REST API ·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мобильное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приложение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для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покупателей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и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курьеров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·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 err="1">
                <a:solidFill>
                  <a:srgbClr val="E2D9D0"/>
                </a:solidFill>
                <a:latin typeface="Segoe UI"/>
              </a:rPr>
              <a:t>веб-панель</a:t>
            </a:r>
            <a:r>
              <a:rPr sz="1700" b="0" dirty="0">
                <a:solidFill>
                  <a:srgbClr val="E2D9D0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E2D9D0"/>
                </a:solidFill>
                <a:latin typeface="Segoe UI"/>
              </a:rPr>
              <a:t>администратора</a:t>
            </a:r>
            <a:endParaRPr sz="1700" b="0" dirty="0">
              <a:solidFill>
                <a:srgbClr val="E2D9D0"/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54864" cy="100584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6400800" cy="6510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2D9D0"/>
                </a:solidFill>
                <a:latin typeface="Segoe UI"/>
              </a:rPr>
              <a:t>Выполнил</a:t>
            </a:r>
            <a:r>
              <a:rPr sz="1500" b="1" dirty="0">
                <a:solidFill>
                  <a:srgbClr val="E2D9D0"/>
                </a:solidFill>
                <a:latin typeface="Segoe UI"/>
              </a:rPr>
              <a:t>: </a:t>
            </a:r>
            <a:r>
              <a:rPr lang="ru-RU" sz="1500" b="0" dirty="0">
                <a:solidFill>
                  <a:srgbClr val="FFFFFF"/>
                </a:solidFill>
                <a:latin typeface="Segoe UI"/>
              </a:rPr>
              <a:t>Мелтонян Одиссей Гарикович</a:t>
            </a:r>
            <a:endParaRPr sz="1500" b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 err="1">
                <a:solidFill>
                  <a:srgbClr val="E2D9D0"/>
                </a:solidFill>
                <a:latin typeface="Segoe UI"/>
              </a:rPr>
              <a:t>Руководитель</a:t>
            </a:r>
            <a:r>
              <a:rPr sz="1500" b="1" dirty="0">
                <a:solidFill>
                  <a:srgbClr val="E2D9D0"/>
                </a:solidFill>
                <a:latin typeface="Segoe UI"/>
              </a:rPr>
              <a:t>: </a:t>
            </a:r>
            <a:r>
              <a:rPr lang="ru-RU" sz="1500" b="0" dirty="0">
                <a:solidFill>
                  <a:srgbClr val="FFFFFF"/>
                </a:solidFill>
                <a:latin typeface="Segoe UI"/>
              </a:rPr>
              <a:t>Самойлов Филипп Владимирович</a:t>
            </a:r>
            <a:endParaRPr sz="1500" b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Актуальность и проблема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6400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800" b="1">
                <a:solidFill>
                  <a:srgbClr val="1F2937"/>
                </a:solidFill>
                <a:latin typeface="Segoe UI"/>
              </a:rPr>
              <a:t>Рынок доставки еды растёт</a:t>
            </a:r>
            <a:r>
              <a:rPr sz="1800" b="0">
                <a:solidFill>
                  <a:srgbClr val="1F2937"/>
                </a:solidFill>
                <a:latin typeface="Segoe UI"/>
              </a:rPr>
              <a:t> — пользователь ждёт оформление заказа в пару касаний и онлайн-оплату.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800" b="1">
                <a:solidFill>
                  <a:srgbClr val="1F2937"/>
                </a:solidFill>
                <a:latin typeface="Segoe UI"/>
              </a:rPr>
              <a:t>Готовые решения дороги и закрыты</a:t>
            </a:r>
            <a:r>
              <a:rPr sz="1800" b="0">
                <a:solidFill>
                  <a:srgbClr val="1F2937"/>
                </a:solidFill>
                <a:latin typeface="Segoe UI"/>
              </a:rPr>
              <a:t> — агрегаторы берут высокую комиссию, бизнес не владеет данными клиентов.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800" b="1">
                <a:solidFill>
                  <a:srgbClr val="1F2937"/>
                </a:solidFill>
                <a:latin typeface="Segoe UI"/>
              </a:rPr>
              <a:t>Нужна единая система</a:t>
            </a:r>
            <a:r>
              <a:rPr sz="1800" b="0">
                <a:solidFill>
                  <a:srgbClr val="1F2937"/>
                </a:solidFill>
                <a:latin typeface="Segoe UI"/>
              </a:rPr>
              <a:t> — связать в одном продукте покупателя, курьера и администратора.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800" b="1">
                <a:solidFill>
                  <a:srgbClr val="1F2937"/>
                </a:solidFill>
                <a:latin typeface="Segoe UI"/>
              </a:rPr>
              <a:t>Разные платформы</a:t>
            </a:r>
            <a:r>
              <a:rPr sz="1800" b="0">
                <a:solidFill>
                  <a:srgbClr val="1F2937"/>
                </a:solidFill>
                <a:latin typeface="Segoe UI"/>
              </a:rPr>
              <a:t> — клиентам удобно мобильное приложение, администратору — веб-панель.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554480"/>
            <a:ext cx="4114800" cy="402336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28016" cy="402336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8501F"/>
                </a:solidFill>
                <a:latin typeface="Segoe UI"/>
              </a:rPr>
              <a:t>ЦЕЛЬ РАБОТЫ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86000"/>
            <a:ext cx="35661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F2937"/>
                </a:solidFill>
                <a:latin typeface="Segoe UI"/>
              </a:rPr>
              <a:t>Разработать собственную информационную систему доставки готовых блюд, </a:t>
            </a:r>
            <a:r>
              <a:rPr sz="1800" b="1">
                <a:solidFill>
                  <a:srgbClr val="1F2937"/>
                </a:solidFill>
                <a:latin typeface="Segoe UI"/>
              </a:rPr>
              <a:t>покрывающую полный цикл заказа</a:t>
            </a:r>
            <a:r>
              <a:rPr sz="1800" b="0">
                <a:solidFill>
                  <a:srgbClr val="1F2937"/>
                </a:solidFill>
                <a:latin typeface="Segoe UI"/>
              </a:rPr>
              <a:t> — от выбора блюд покупателем до доставки курьером и управления администратором.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ПОСТАНОВКА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Задачи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611880" cy="1752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63677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075688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Спроектировать архитектуру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4144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Segoe UI"/>
              </a:rPr>
              <a:t>Клиент-серверная модель, единый REST API, модель данных в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508760"/>
            <a:ext cx="3611880" cy="1752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163677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075688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Реализовать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441448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Segoe UI"/>
              </a:rPr>
              <a:t>Аутентификация, бизнес-логика заказов, разграничение прав по ролям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508760"/>
            <a:ext cx="3611880" cy="1752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163677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4" y="2075688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Разработать мобильное приложение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615184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5B6670"/>
                </a:solidFill>
                <a:latin typeface="Segoe UI"/>
              </a:rPr>
              <a:t>Интерфейсы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покупателя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и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курьера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на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React Native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40480"/>
            <a:ext cx="3611880" cy="175259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968497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407409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Создать веб-панель администратора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983481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 err="1">
                <a:solidFill>
                  <a:srgbClr val="5B6670"/>
                </a:solidFill>
                <a:latin typeface="Segoe UI"/>
              </a:rPr>
              <a:t>Управление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меню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,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заказами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и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пользователями</a:t>
            </a:r>
            <a:r>
              <a:rPr sz="1250" b="0" dirty="0">
                <a:solidFill>
                  <a:srgbClr val="5B6670"/>
                </a:solidFill>
                <a:latin typeface="Segoe UI"/>
              </a:rPr>
              <a:t>, </a:t>
            </a:r>
            <a:r>
              <a:rPr sz="1250" b="0" dirty="0" err="1">
                <a:solidFill>
                  <a:srgbClr val="5B6670"/>
                </a:solidFill>
                <a:latin typeface="Segoe UI"/>
              </a:rPr>
              <a:t>аналитика</a:t>
            </a:r>
            <a:endParaRPr sz="1250" b="0" dirty="0">
              <a:solidFill>
                <a:srgbClr val="5B6670"/>
              </a:solidFill>
              <a:latin typeface="Segoe U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453128" y="3840481"/>
            <a:ext cx="3611880" cy="175259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4296" y="3968497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4407409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Интегрировать онлайн-оплату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4773169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Segoe UI"/>
              </a:rPr>
              <a:t>Платёжный сервис с безопасным серверным подтверждением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6" y="3840481"/>
            <a:ext cx="3611880" cy="175259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67344" y="3968497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E8501F"/>
                </a:solidFill>
                <a:latin typeface="Segoe U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4407409"/>
            <a:ext cx="320954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Протестировать систему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773169"/>
            <a:ext cx="320954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670"/>
                </a:solidFill>
                <a:latin typeface="Segoe UI"/>
              </a:rPr>
              <a:t>Автоматические тесты всех компонентов и измерение покрытия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ПРОЕКТИРОВАНИЕ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Архитектура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554480"/>
            <a:ext cx="3749039" cy="105156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1664208"/>
            <a:ext cx="3529583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Мобильное приложение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FDEFF"/>
                </a:solidFill>
                <a:latin typeface="Segoe UI"/>
              </a:rPr>
              <a:t>React Native (Expo) · покупатель / курьер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3749039" cy="1051560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33488" y="1664208"/>
            <a:ext cx="3529583" cy="8321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Веб-панель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FDEFF"/>
                </a:solidFill>
                <a:latin typeface="Segoe UI"/>
              </a:rPr>
              <a:t>React + Vite + Tailwind · администратор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6126480" cy="114300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3310128"/>
            <a:ext cx="5907024" cy="923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Backend API  ·  Node.js + Express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9D2DC"/>
                </a:solidFill>
                <a:latin typeface="Segoe UI"/>
              </a:rPr>
              <a:t>JWT-аутентификация · авторизация по ролям · helmet · CORS · rate-limit · валидация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03120" y="5029200"/>
            <a:ext cx="3291840" cy="100584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12848" y="5138928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PostgreSQL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CFEBDB"/>
                </a:solidFill>
                <a:latin typeface="Segoe UI"/>
              </a:rPr>
              <a:t>хранение данных (pg pool)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029200"/>
            <a:ext cx="3291840" cy="10058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5138928"/>
            <a:ext cx="3072384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PayPalych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FFDDC4"/>
                </a:solidFill>
                <a:latin typeface="Segoe UI"/>
              </a:rPr>
              <a:t>приём оплаты · postback с подписью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63240" y="2606040"/>
            <a:ext cx="1691640" cy="594360"/>
          </a:xfrm>
          <a:prstGeom prst="bentConnector3">
            <a:avLst/>
          </a:prstGeom>
          <a:ln w="22225">
            <a:solidFill>
              <a:srgbClr val="5B66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406640" y="2606040"/>
            <a:ext cx="1691640" cy="594360"/>
          </a:xfrm>
          <a:prstGeom prst="bentConnector3">
            <a:avLst/>
          </a:prstGeom>
          <a:ln w="22225">
            <a:solidFill>
              <a:srgbClr val="5B66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749039" y="4343400"/>
            <a:ext cx="822961" cy="685800"/>
          </a:xfrm>
          <a:prstGeom prst="bentConnector3">
            <a:avLst/>
          </a:prstGeom>
          <a:ln w="22225">
            <a:solidFill>
              <a:srgbClr val="5B66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89520" y="4343400"/>
            <a:ext cx="822960" cy="685800"/>
          </a:xfrm>
          <a:prstGeom prst="bentConnector3">
            <a:avLst/>
          </a:prstGeom>
          <a:ln w="22225">
            <a:solidFill>
              <a:srgbClr val="5B66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27432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5B6670"/>
                </a:solidFill>
                <a:latin typeface="Segoe UI"/>
              </a:rPr>
              <a:t>axios + JWT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ИНСТРУМЕНТЫ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28016" cy="8229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755648"/>
            <a:ext cx="836676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Node.js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2331" y="1755648"/>
            <a:ext cx="102870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Express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7" y="1755648"/>
            <a:ext cx="1412748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PostgreSQL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45944" y="1779698"/>
            <a:ext cx="452628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JWT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6588" y="1779698"/>
            <a:ext cx="932688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bcryptjs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128016" cy="82296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468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Мобильное приложение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2670048"/>
            <a:ext cx="1796795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React Native 0.81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02450" y="2670048"/>
            <a:ext cx="1220724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Expo SDK 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51190" y="2670048"/>
            <a:ext cx="1892807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React Navigation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72013" y="2670048"/>
            <a:ext cx="64465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axios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4681" y="2670048"/>
            <a:ext cx="836676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WebView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128016" cy="82296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3832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Веб-панель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3584448"/>
            <a:ext cx="932688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React 18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8343" y="3584448"/>
            <a:ext cx="740664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Vite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07023" y="3584448"/>
            <a:ext cx="1508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Tailwind CSS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799" y="3584448"/>
            <a:ext cx="1508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React Router 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97680"/>
            <a:ext cx="128016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42976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Безопасность и оплата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4498848"/>
            <a:ext cx="740664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helmet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19" y="4498848"/>
            <a:ext cx="54864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cors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2975" y="4498848"/>
            <a:ext cx="1892807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express-rate-limit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798" y="4498848"/>
            <a:ext cx="1796795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express-validator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8609" y="4498848"/>
            <a:ext cx="102870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PayPalych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212080"/>
            <a:ext cx="128016" cy="822960"/>
          </a:xfrm>
          <a:prstGeom prst="rect">
            <a:avLst/>
          </a:prstGeom>
          <a:solidFill>
            <a:srgbClr val="5B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F2937"/>
                </a:solidFill>
                <a:latin typeface="Segoe UI"/>
              </a:rPr>
              <a:t>Тестирование и инфраструктура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77639" y="5413248"/>
            <a:ext cx="54864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Jest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4295" y="5413248"/>
            <a:ext cx="740664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Vitest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22975" y="5413248"/>
            <a:ext cx="1604772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Testing Library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5763" y="5413248"/>
            <a:ext cx="15087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0" rIns="109728" bIns="0" rtlCol="0" anchor="ctr"/>
          <a:lstStyle/>
          <a:p>
            <a:pPr algn="ctr"/>
            <a:r>
              <a:rPr sz="1400" b="1">
                <a:solidFill>
                  <a:srgbClr val="1F2937"/>
                </a:solidFill>
                <a:latin typeface="Segoe UI"/>
              </a:rPr>
              <a:t>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Покупатель — мобильное приложение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20624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Регистрация и вход по email (JWT)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Просмотр меню по категориям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Карточка блюда с описанием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Корзина и подсчёт суммы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Оформление заказа с адресом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Онлайн-оплата заказа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Отслеживание статуса в реальном времени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5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>
                <a:solidFill>
                  <a:srgbClr val="1F2937"/>
                </a:solidFill>
                <a:latin typeface="Segoe UI"/>
              </a:rPr>
              <a:t>История заказов и профиль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0056" y="2115875"/>
            <a:ext cx="1737360" cy="36320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obil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70739"/>
            <a:ext cx="1627632" cy="35223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93408" y="2115875"/>
            <a:ext cx="1737360" cy="36320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mobile-d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2170739"/>
            <a:ext cx="1627632" cy="352236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66760" y="2115875"/>
            <a:ext cx="1737360" cy="36320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mobile-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70739"/>
            <a:ext cx="1627632" cy="352236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040112" y="2115875"/>
            <a:ext cx="1737360" cy="363209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bile-order-statu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2170739"/>
            <a:ext cx="1627632" cy="3522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mobile-home.png">
            <a:extLst>
              <a:ext uri="{FF2B5EF4-FFF2-40B4-BE49-F238E27FC236}">
                <a16:creationId xmlns:a16="http://schemas.microsoft.com/office/drawing/2014/main" id="{96BC2A52-54D2-F2AD-41F4-4E5791FB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167270" cy="6854297"/>
          </a:xfrm>
          <a:prstGeom prst="rect">
            <a:avLst/>
          </a:prstGeom>
        </p:spPr>
      </p:pic>
      <p:pic>
        <p:nvPicPr>
          <p:cNvPr id="3" name="Picture 11" descr="mobile-dish.png">
            <a:extLst>
              <a:ext uri="{FF2B5EF4-FFF2-40B4-BE49-F238E27FC236}">
                <a16:creationId xmlns:a16="http://schemas.microsoft.com/office/drawing/2014/main" id="{F5555F72-4F96-5D88-2771-D5058BB1C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270" y="3704"/>
            <a:ext cx="3167270" cy="6854296"/>
          </a:xfrm>
          <a:prstGeom prst="rect">
            <a:avLst/>
          </a:prstGeom>
        </p:spPr>
      </p:pic>
      <p:pic>
        <p:nvPicPr>
          <p:cNvPr id="4" name="Picture 13" descr="mobile-cart.png">
            <a:extLst>
              <a:ext uri="{FF2B5EF4-FFF2-40B4-BE49-F238E27FC236}">
                <a16:creationId xmlns:a16="http://schemas.microsoft.com/office/drawing/2014/main" id="{736BAAA0-D280-D4D9-CEB0-D61B13575B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541" y="7410"/>
            <a:ext cx="3167269" cy="6854294"/>
          </a:xfrm>
          <a:prstGeom prst="rect">
            <a:avLst/>
          </a:prstGeom>
        </p:spPr>
      </p:pic>
      <p:pic>
        <p:nvPicPr>
          <p:cNvPr id="5" name="Picture 15" descr="mobile-order-status.png">
            <a:extLst>
              <a:ext uri="{FF2B5EF4-FFF2-40B4-BE49-F238E27FC236}">
                <a16:creationId xmlns:a16="http://schemas.microsoft.com/office/drawing/2014/main" id="{65A88E30-262E-68D8-27A4-D869F937B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810" y="516225"/>
            <a:ext cx="2690190" cy="582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49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Курьер и онлайн-оплата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22402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9E5B"/>
                </a:solidFill>
                <a:latin typeface="Segoe UI"/>
              </a:rPr>
              <a:t>КУРЬЕР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E9E5B"/>
                </a:solidFill>
                <a:latin typeface="Segoe UI"/>
              </a:rPr>
              <a:t>—  </a:t>
            </a:r>
            <a:r>
              <a:rPr sz="1600">
                <a:solidFill>
                  <a:srgbClr val="1F2937"/>
                </a:solidFill>
                <a:latin typeface="Segoe UI"/>
              </a:rPr>
              <a:t>Список доступных заказов к доставке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E9E5B"/>
                </a:solidFill>
                <a:latin typeface="Segoe UI"/>
              </a:rPr>
              <a:t>—  </a:t>
            </a:r>
            <a:r>
              <a:rPr sz="1600">
                <a:solidFill>
                  <a:srgbClr val="1F2937"/>
                </a:solidFill>
                <a:latin typeface="Segoe UI"/>
              </a:rPr>
              <a:t>Принятие заказа в работу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2E9E5B"/>
                </a:solidFill>
                <a:latin typeface="Segoe UI"/>
              </a:rPr>
              <a:t>—  </a:t>
            </a:r>
            <a:r>
              <a:rPr sz="1600">
                <a:solidFill>
                  <a:srgbClr val="1F2937"/>
                </a:solidFill>
                <a:latin typeface="Segoe UI"/>
              </a:rPr>
              <a:t>Обновление статуса: «Принят» → «Доставлен»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12064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788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501F"/>
                </a:solidFill>
                <a:latin typeface="Segoe UI"/>
              </a:rPr>
              <a:t>ОНЛАЙН-ОПЛАТА (PayPalych)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Создание платежа на стороне сервера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50" b="1">
                <a:solidFill>
                  <a:srgbClr val="1F2937"/>
                </a:solidFill>
                <a:latin typeface="Segoe UI"/>
              </a:rPr>
              <a:t>Подтверждение — только через </a:t>
            </a:r>
            <a:r>
              <a:rPr sz="1550" b="0">
                <a:solidFill>
                  <a:srgbClr val="1F2937"/>
                </a:solidFill>
                <a:latin typeface="Segoe UI"/>
              </a:rPr>
              <a:t>server-to-server postback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50" b="1">
                <a:solidFill>
                  <a:srgbClr val="1F2937"/>
                </a:solidFill>
                <a:latin typeface="Segoe UI"/>
              </a:rPr>
              <a:t>Проверка </a:t>
            </a:r>
            <a:r>
              <a:rPr sz="1550" b="0">
                <a:solidFill>
                  <a:srgbClr val="1F2937"/>
                </a:solidFill>
                <a:latin typeface="Segoe UI"/>
              </a:rPr>
              <a:t>подписи уведомления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Тестовый режим-эмулятор для демонстрации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6663" y="1408176"/>
            <a:ext cx="2391394" cy="5047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obile-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527" y="1463040"/>
            <a:ext cx="2281666" cy="49377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91303" y="1408176"/>
            <a:ext cx="2391394" cy="50474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bile-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6167" y="1463040"/>
            <a:ext cx="22816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mobile-payment.png">
            <a:extLst>
              <a:ext uri="{FF2B5EF4-FFF2-40B4-BE49-F238E27FC236}">
                <a16:creationId xmlns:a16="http://schemas.microsoft.com/office/drawing/2014/main" id="{03CFE2D6-CDA2-C656-0262-681F9DB5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912" y="-1"/>
            <a:ext cx="3180523" cy="6882979"/>
          </a:xfrm>
          <a:prstGeom prst="rect">
            <a:avLst/>
          </a:prstGeom>
        </p:spPr>
      </p:pic>
      <p:pic>
        <p:nvPicPr>
          <p:cNvPr id="3" name="Picture 16" descr="mobile-checkout.png">
            <a:extLst>
              <a:ext uri="{FF2B5EF4-FFF2-40B4-BE49-F238E27FC236}">
                <a16:creationId xmlns:a16="http://schemas.microsoft.com/office/drawing/2014/main" id="{E8074D98-931C-F01D-E284-95CA50403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12099"/>
            <a:ext cx="3180522" cy="688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985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ФУНКЦИОНАЛ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Администратор — веб-панель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114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>
                <a:solidFill>
                  <a:srgbClr val="1F2937"/>
                </a:solidFill>
                <a:latin typeface="Segoe UI"/>
              </a:rPr>
              <a:t>Дашборд</a:t>
            </a:r>
            <a:r>
              <a:rPr sz="1650" b="0">
                <a:solidFill>
                  <a:srgbClr val="1F2937"/>
                </a:solidFill>
                <a:latin typeface="Segoe UI"/>
              </a:rPr>
              <a:t> — заказы, выручка, клиенты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>
                <a:solidFill>
                  <a:srgbClr val="1F2937"/>
                </a:solidFill>
                <a:latin typeface="Segoe UI"/>
              </a:rPr>
              <a:t>Управление заказами</a:t>
            </a:r>
            <a:r>
              <a:rPr sz="1650" b="0">
                <a:solidFill>
                  <a:srgbClr val="1F2937"/>
                </a:solidFill>
                <a:latin typeface="Segoe UI"/>
              </a:rPr>
              <a:t> — смена статусов, назначение курьеров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>
                <a:solidFill>
                  <a:srgbClr val="1F2937"/>
                </a:solidFill>
                <a:latin typeface="Segoe UI"/>
              </a:rPr>
              <a:t>Управление меню</a:t>
            </a:r>
            <a:r>
              <a:rPr sz="1650" b="0">
                <a:solidFill>
                  <a:srgbClr val="1F2937"/>
                </a:solidFill>
                <a:latin typeface="Segoe UI"/>
              </a:rPr>
              <a:t> — категории и блюда (CRUD)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>
                <a:solidFill>
                  <a:srgbClr val="1F2937"/>
                </a:solidFill>
                <a:latin typeface="Segoe UI"/>
              </a:rPr>
              <a:t>Пользователи</a:t>
            </a:r>
            <a:r>
              <a:rPr sz="1650" b="0">
                <a:solidFill>
                  <a:srgbClr val="1F2937"/>
                </a:solidFill>
                <a:latin typeface="Segoe UI"/>
              </a:rPr>
              <a:t> — покупатели и курьеры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650" b="1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>
                <a:solidFill>
                  <a:srgbClr val="1F2937"/>
                </a:solidFill>
                <a:latin typeface="Segoe UI"/>
              </a:rPr>
              <a:t>Блокировка</a:t>
            </a:r>
            <a:r>
              <a:rPr sz="1650" b="0">
                <a:solidFill>
                  <a:srgbClr val="1F2937"/>
                </a:solidFill>
                <a:latin typeface="Segoe UI"/>
              </a:rPr>
              <a:t> — разблокировка аккаунтов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4168" y="1408176"/>
            <a:ext cx="3702304" cy="24871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032" y="1463040"/>
            <a:ext cx="3592576" cy="23774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837176" y="4068003"/>
            <a:ext cx="3401568" cy="228815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dmin-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122867"/>
            <a:ext cx="3291840" cy="21784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311896" y="4068003"/>
            <a:ext cx="3401568" cy="228815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dmin-men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122867"/>
            <a:ext cx="3291840" cy="21784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9" descr="admin-dashboard.png">
            <a:extLst>
              <a:ext uri="{FF2B5EF4-FFF2-40B4-BE49-F238E27FC236}">
                <a16:creationId xmlns:a16="http://schemas.microsoft.com/office/drawing/2014/main" id="{F59C8BDA-2B59-8352-1DB6-54E5E05B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1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07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1" descr="admin-orders.png">
            <a:extLst>
              <a:ext uri="{FF2B5EF4-FFF2-40B4-BE49-F238E27FC236}">
                <a16:creationId xmlns:a16="http://schemas.microsoft.com/office/drawing/2014/main" id="{FBC9C7BE-BBD1-E9FB-86CC-84E5B50F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1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6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3" descr="admin-menu.png">
            <a:extLst>
              <a:ext uri="{FF2B5EF4-FFF2-40B4-BE49-F238E27FC236}">
                <a16:creationId xmlns:a16="http://schemas.microsoft.com/office/drawing/2014/main" id="{8118C37C-20EF-A983-55FA-2C86C0561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1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00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Безопасность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72821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JWT-аутентификация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85416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Stateless-сессии: токен в заголовке Authorization, без хранения сессий на сервере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508760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53128" y="1508760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72821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Хеширование паролей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185416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Пароли хранятся как bcrypt-хеши, а не в открытом виде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508760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66176" y="1508760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67344" y="1728216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Разграничение по ролям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185416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middleware authorize() ограничивает доступ: customer / courier / 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64408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3264408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483864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Защита по умолчанию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941064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helmet, CORS, ограничение частоты запросов на /auth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264408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453128" y="3264408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54296" y="3483864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Серверная валидация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3941064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express-validator проверяет все входные данные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6" y="3264408"/>
            <a:ext cx="36118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66176" y="3264408"/>
            <a:ext cx="361188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67344" y="3483864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1F2937"/>
                </a:solidFill>
                <a:latin typeface="Segoe UI"/>
              </a:rPr>
              <a:t>Безопасная оплата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941064"/>
            <a:ext cx="320954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670"/>
                </a:solidFill>
                <a:latin typeface="Segoe UI"/>
              </a:rPr>
              <a:t>Подтверждение платежа — только server-to-server postback с проверкой подписи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КАЧЕСТВО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Тестирование и результаты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556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8501F"/>
                </a:solidFill>
                <a:latin typeface="Segoe UI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786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670"/>
                </a:solidFill>
                <a:latin typeface="Segoe UI"/>
              </a:rPr>
              <a:t>автотестов всего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5544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7556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E9E5B"/>
                </a:solidFill>
                <a:latin typeface="Segoe UI"/>
              </a:rPr>
              <a:t>~82 %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5786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670"/>
                </a:solidFill>
                <a:latin typeface="Segoe UI"/>
              </a:rPr>
              <a:t>покрытие backend (строки)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5544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81344" y="17556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D6CD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25786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670"/>
                </a:solidFill>
                <a:latin typeface="Segoe UI"/>
              </a:rPr>
              <a:t>клиентских роли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554480"/>
            <a:ext cx="26517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51976" y="175564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5786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670"/>
                </a:solidFill>
                <a:latin typeface="Segoe UI"/>
              </a:rPr>
              <a:t>групп REST-эндпоинтов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2937"/>
                </a:solidFill>
                <a:latin typeface="Segoe UI"/>
              </a:rPr>
              <a:t>Распределение тестов и инструменты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5486400" cy="1114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 dirty="0">
                <a:solidFill>
                  <a:srgbClr val="1F2937"/>
                </a:solidFill>
                <a:latin typeface="Segoe UI"/>
              </a:rPr>
              <a:t>Backend — 92 </a:t>
            </a:r>
            <a:r>
              <a:rPr sz="1650" b="1" dirty="0" err="1">
                <a:solidFill>
                  <a:srgbClr val="1F2937"/>
                </a:solidFill>
                <a:latin typeface="Segoe UI"/>
              </a:rPr>
              <a:t>теста</a:t>
            </a:r>
            <a:r>
              <a:rPr sz="1650" b="0" dirty="0">
                <a:solidFill>
                  <a:srgbClr val="1F2937"/>
                </a:solidFill>
                <a:latin typeface="Segoe UI"/>
              </a:rPr>
              <a:t>  ·  Jest + </a:t>
            </a:r>
            <a:r>
              <a:rPr sz="1650" b="0" dirty="0" err="1">
                <a:solidFill>
                  <a:srgbClr val="1F2937"/>
                </a:solidFill>
                <a:latin typeface="Segoe UI"/>
              </a:rPr>
              <a:t>Supertest</a:t>
            </a:r>
            <a:endParaRPr sz="1650" b="0" dirty="0">
              <a:solidFill>
                <a:srgbClr val="1F2937"/>
              </a:solidFill>
              <a:latin typeface="Segoe UI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 dirty="0">
                <a:solidFill>
                  <a:srgbClr val="1F2937"/>
                </a:solidFill>
                <a:latin typeface="Segoe UI"/>
              </a:rPr>
              <a:t>Admin — 6 </a:t>
            </a:r>
            <a:r>
              <a:rPr sz="1650" b="1" dirty="0" err="1">
                <a:solidFill>
                  <a:srgbClr val="1F2937"/>
                </a:solidFill>
                <a:latin typeface="Segoe UI"/>
              </a:rPr>
              <a:t>тестов</a:t>
            </a:r>
            <a:r>
              <a:rPr sz="1650" b="0" dirty="0">
                <a:solidFill>
                  <a:srgbClr val="1F2937"/>
                </a:solidFill>
                <a:latin typeface="Segoe UI"/>
              </a:rPr>
              <a:t>  ·  </a:t>
            </a:r>
            <a:r>
              <a:rPr sz="1650" b="0" dirty="0" err="1">
                <a:solidFill>
                  <a:srgbClr val="1F2937"/>
                </a:solidFill>
                <a:latin typeface="Segoe UI"/>
              </a:rPr>
              <a:t>Vitest</a:t>
            </a:r>
            <a:endParaRPr sz="1650" b="0" dirty="0">
              <a:solidFill>
                <a:srgbClr val="1F2937"/>
              </a:solidFill>
              <a:latin typeface="Segoe UI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650" b="1" dirty="0">
                <a:solidFill>
                  <a:srgbClr val="1F2937"/>
                </a:solidFill>
                <a:latin typeface="Segoe UI"/>
              </a:rPr>
              <a:t>Mobile — 22 </a:t>
            </a:r>
            <a:r>
              <a:rPr sz="1650" b="1" dirty="0" err="1">
                <a:solidFill>
                  <a:srgbClr val="1F2937"/>
                </a:solidFill>
                <a:latin typeface="Segoe UI"/>
              </a:rPr>
              <a:t>теста</a:t>
            </a:r>
            <a:r>
              <a:rPr sz="1650" b="0" dirty="0">
                <a:solidFill>
                  <a:srgbClr val="1F2937"/>
                </a:solidFill>
                <a:latin typeface="Segoe UI"/>
              </a:rPr>
              <a:t>  ·  Jest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2E9E5B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Проверены сценарии аутентификации и ролей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2E9E5B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Заказы: создание, статусы, отмена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2E9E5B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Оплата: postback и проверка подписи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>
                <a:solidFill>
                  <a:srgbClr val="2E9E5B"/>
                </a:solidFill>
                <a:latin typeface="Segoe UI"/>
              </a:rPr>
              <a:t>—  </a:t>
            </a:r>
            <a:r>
              <a:rPr sz="1550">
                <a:solidFill>
                  <a:srgbClr val="1F2937"/>
                </a:solidFill>
                <a:latin typeface="Segoe UI"/>
              </a:rPr>
              <a:t>Запуск всей системы через Docker Compose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143000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8501F"/>
                </a:solidFill>
                <a:latin typeface="Segoe UI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Segoe UI"/>
              </a:rPr>
              <a:t>Заключение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143000"/>
            <a:ext cx="12191695" cy="25400"/>
          </a:xfrm>
          <a:prstGeom prst="rect">
            <a:avLst/>
          </a:prstGeom>
          <a:solidFill>
            <a:srgbClr val="E2D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94415" y="3657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B6670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66751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Цель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достигнута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—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разработана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работающая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система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доставки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готовых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блюд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полного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цикла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Единый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REST API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обслуживает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два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клиента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с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разграничением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прав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по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ролям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Реализованы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все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роли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—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покупатель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,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курьер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и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администратор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Интегрирована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онлайн-оплата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с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безопасным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серверным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подтверждением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Качество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подтверждено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— 120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автотестов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,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покрытие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backend ~82 %.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500"/>
              </a:spcAft>
            </a:pPr>
            <a:r>
              <a:rPr sz="1750" b="1" dirty="0">
                <a:solidFill>
                  <a:srgbClr val="E8501F"/>
                </a:solidFill>
                <a:latin typeface="Segoe UI"/>
              </a:rPr>
              <a:t>— 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Готовность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к</a:t>
            </a:r>
            <a:r>
              <a:rPr sz="175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1" dirty="0" err="1">
                <a:solidFill>
                  <a:srgbClr val="1F2937"/>
                </a:solidFill>
                <a:latin typeface="Segoe UI"/>
              </a:rPr>
              <a:t>запуску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—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развёртывание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одной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командой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750" b="0" dirty="0" err="1">
                <a:solidFill>
                  <a:srgbClr val="1F2937"/>
                </a:solidFill>
                <a:latin typeface="Segoe UI"/>
              </a:rPr>
              <a:t>через</a:t>
            </a:r>
            <a:r>
              <a:rPr sz="1750" b="0" dirty="0">
                <a:solidFill>
                  <a:srgbClr val="1F2937"/>
                </a:solidFill>
                <a:latin typeface="Segoe UI"/>
              </a:rPr>
              <a:t> Docker Compose.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554480"/>
            <a:ext cx="3931920" cy="4023360"/>
          </a:xfrm>
          <a:prstGeom prst="roundRect">
            <a:avLst>
              <a:gd name="adj" fmla="val 32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9520" y="1554480"/>
            <a:ext cx="3931920" cy="91440"/>
          </a:xfrm>
          <a:prstGeom prst="round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783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8501F"/>
                </a:solidFill>
                <a:latin typeface="Segoe UI"/>
              </a:rPr>
              <a:t>ПЕРСПЕКТИВЫ РАЗВИТИЯ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4747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00">
                <a:solidFill>
                  <a:srgbClr val="1F2937"/>
                </a:solidFill>
                <a:latin typeface="Segoe UI"/>
              </a:rPr>
              <a:t>Push-уведомления о статусе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00">
                <a:solidFill>
                  <a:srgbClr val="1F2937"/>
                </a:solidFill>
                <a:latin typeface="Segoe UI"/>
              </a:rPr>
              <a:t>Геокарта и трекинг курьера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00">
                <a:solidFill>
                  <a:srgbClr val="1F2937"/>
                </a:solidFill>
                <a:latin typeface="Segoe UI"/>
              </a:rPr>
              <a:t>Рейтинги и отзывы о блюдах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00">
                <a:solidFill>
                  <a:srgbClr val="1F2937"/>
                </a:solidFill>
                <a:latin typeface="Segoe UI"/>
              </a:rPr>
              <a:t>Программа лояльности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E8501F"/>
                </a:solidFill>
                <a:latin typeface="Segoe UI"/>
              </a:rPr>
              <a:t>—  </a:t>
            </a:r>
            <a:r>
              <a:rPr sz="1500">
                <a:solidFill>
                  <a:srgbClr val="1F2937"/>
                </a:solidFill>
                <a:latin typeface="Segoe UI"/>
              </a:rPr>
              <a:t>Аналитика продаж и отчёты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46820" y="-1481328"/>
            <a:ext cx="5029200" cy="5029200"/>
          </a:xfrm>
          <a:prstGeom prst="ellipse">
            <a:avLst/>
          </a:prstGeom>
          <a:solidFill>
            <a:srgbClr val="E85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Спасибо за внимание!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2D9D0"/>
                </a:solidFill>
                <a:latin typeface="Segoe UI"/>
              </a:rPr>
              <a:t>Готов ответить на ваши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69A3A"/>
                </a:solidFill>
                <a:latin typeface="Segoe UI"/>
              </a:rPr>
              <a:t>Система онлайн-заказа и доставки готовых блюд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724</Words>
  <Application>Microsoft Macintosh PowerPoint</Application>
  <PresentationFormat>Широкоэкранный</PresentationFormat>
  <Paragraphs>166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e365</cp:lastModifiedBy>
  <cp:revision>4</cp:revision>
  <dcterms:created xsi:type="dcterms:W3CDTF">2013-01-27T09:14:16Z</dcterms:created>
  <dcterms:modified xsi:type="dcterms:W3CDTF">2026-06-25T09:37:17Z</dcterms:modified>
  <cp:category/>
</cp:coreProperties>
</file>